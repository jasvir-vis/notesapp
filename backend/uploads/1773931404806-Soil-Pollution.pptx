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nter" panose="020B0604020202020204" charset="0"/>
      <p:regular r:id="rId11"/>
    </p:embeddedFont>
    <p:embeddedFont>
      <p:font typeface="Manrope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815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openaccessgovernment.org/article/agricultural-terraces-in-europe-geoarchaeological-and-botanical-methods/183548/" TargetMode="Externa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openaccessgovernment.org/article/effect-soil-degradation-human-animal-plant-health/161983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flickr.com/photos/danlong/2776334619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pixabay.com/fr/illustrations/merci-note-merci-noter-message-1428147/" TargetMode="Externa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"/>
          <p:cNvSpPr/>
          <p:nvPr/>
        </p:nvSpPr>
        <p:spPr>
          <a:xfrm>
            <a:off x="2593684" y="5551778"/>
            <a:ext cx="9710660" cy="1958016"/>
          </a:xfrm>
          <a:prstGeom prst="roundRect">
            <a:avLst>
              <a:gd name="adj" fmla="val 15387"/>
            </a:avLst>
          </a:prstGeom>
          <a:solidFill>
            <a:srgbClr val="FFC4B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1"/>
          <p:cNvSpPr/>
          <p:nvPr/>
        </p:nvSpPr>
        <p:spPr>
          <a:xfrm>
            <a:off x="2459870" y="2782986"/>
            <a:ext cx="9387274" cy="1959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on 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Soil Pollution: Causes, Effects, and Control</a:t>
            </a:r>
            <a:endParaRPr lang="en-US" sz="445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268D44-62E4-752B-81EE-E33F41D75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682" y="1084779"/>
            <a:ext cx="1236203" cy="154398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EF81033-CF9F-1569-4410-E0C13045798D}"/>
              </a:ext>
            </a:extLst>
          </p:cNvPr>
          <p:cNvGrpSpPr/>
          <p:nvPr/>
        </p:nvGrpSpPr>
        <p:grpSpPr>
          <a:xfrm>
            <a:off x="4103649" y="1538355"/>
            <a:ext cx="7556421" cy="1166423"/>
            <a:chOff x="4572000" y="1423495"/>
            <a:chExt cx="7556421" cy="1166423"/>
          </a:xfrm>
        </p:grpSpPr>
        <p:sp>
          <p:nvSpPr>
            <p:cNvPr id="12" name="Text 2">
              <a:extLst>
                <a:ext uri="{FF2B5EF4-FFF2-40B4-BE49-F238E27FC236}">
                  <a16:creationId xmlns:a16="http://schemas.microsoft.com/office/drawing/2014/main" id="{449BF15A-5412-9C92-6236-82573F538DDF}"/>
                </a:ext>
              </a:extLst>
            </p:cNvPr>
            <p:cNvSpPr/>
            <p:nvPr/>
          </p:nvSpPr>
          <p:spPr>
            <a:xfrm>
              <a:off x="4572000" y="1423495"/>
              <a:ext cx="755642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 Of Computer Science And Applications</a:t>
              </a:r>
            </a:p>
          </p:txBody>
        </p:sp>
        <p:sp>
          <p:nvSpPr>
            <p:cNvPr id="13" name="Text 2">
              <a:extLst>
                <a:ext uri="{FF2B5EF4-FFF2-40B4-BE49-F238E27FC236}">
                  <a16:creationId xmlns:a16="http://schemas.microsoft.com/office/drawing/2014/main" id="{76DFBDA2-FDCA-69C4-DAB4-A7B4912DDD71}"/>
                </a:ext>
              </a:extLst>
            </p:cNvPr>
            <p:cNvSpPr/>
            <p:nvPr/>
          </p:nvSpPr>
          <p:spPr>
            <a:xfrm>
              <a:off x="4572000" y="1931738"/>
              <a:ext cx="6515100" cy="6581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DAV UNIVERSITY, JALANDHAR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2073DB7-DC8A-8ED1-8791-6730FA1E56CC}"/>
              </a:ext>
            </a:extLst>
          </p:cNvPr>
          <p:cNvSpPr txBox="1"/>
          <p:nvPr/>
        </p:nvSpPr>
        <p:spPr>
          <a:xfrm>
            <a:off x="3211784" y="5860213"/>
            <a:ext cx="3791181" cy="1187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Submit By</a:t>
            </a:r>
            <a:r>
              <a:rPr lang="en-US" sz="18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ts val="2850"/>
              </a:lnSpc>
            </a:pPr>
            <a:r>
              <a:rPr lang="en-US" sz="2400" dirty="0" err="1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Prabhneet</a:t>
            </a: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kaur</a:t>
            </a: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(12500574)</a:t>
            </a:r>
          </a:p>
          <a:p>
            <a:pPr>
              <a:lnSpc>
                <a:spcPts val="2850"/>
              </a:lnSpc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Sukhdeep </a:t>
            </a:r>
            <a:r>
              <a:rPr lang="en-US" sz="2400" dirty="0" err="1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kaur</a:t>
            </a: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(12500165)</a:t>
            </a: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1346A73D-AB6B-95DC-6644-8E9490505EDF}"/>
              </a:ext>
            </a:extLst>
          </p:cNvPr>
          <p:cNvSpPr/>
          <p:nvPr/>
        </p:nvSpPr>
        <p:spPr>
          <a:xfrm>
            <a:off x="9307322" y="5860213"/>
            <a:ext cx="3414401" cy="132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Submit To: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Dr. Harpreet </a:t>
            </a:r>
            <a:r>
              <a:rPr lang="en-US" sz="2400" dirty="0" err="1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walia</a:t>
            </a:r>
            <a:endParaRPr lang="en-US" sz="2400" dirty="0">
              <a:latin typeface="Times New Roman" panose="02020603050405020304" pitchFamily="18" charset="0"/>
              <a:ea typeface="Open San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(Assistant Professor)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C43CC0-111E-208F-3D67-72D84441E091}"/>
              </a:ext>
            </a:extLst>
          </p:cNvPr>
          <p:cNvSpPr/>
          <p:nvPr/>
        </p:nvSpPr>
        <p:spPr>
          <a:xfrm>
            <a:off x="12723541" y="7571678"/>
            <a:ext cx="1906859" cy="657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1558767" y="1500425"/>
            <a:ext cx="472142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Soil Pollution?</a:t>
            </a:r>
            <a:endParaRPr lang="en-US" sz="3550" dirty="0"/>
          </a:p>
        </p:txBody>
      </p:sp>
      <p:sp>
        <p:nvSpPr>
          <p:cNvPr id="6" name="Text 2"/>
          <p:cNvSpPr/>
          <p:nvPr/>
        </p:nvSpPr>
        <p:spPr>
          <a:xfrm>
            <a:off x="1587581" y="2203490"/>
            <a:ext cx="12014596" cy="941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Soil pollution is any harmful change to the soil’s physical, chemical, or biological properties that reduces its ability to support life. Polluted soil affects plants, animals, groundwater, and human health.</a:t>
            </a:r>
            <a:endParaRPr lang="en-US" sz="17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BFE499-83CA-91D9-C6A4-FF589F0D9586}"/>
              </a:ext>
            </a:extLst>
          </p:cNvPr>
          <p:cNvGrpSpPr/>
          <p:nvPr/>
        </p:nvGrpSpPr>
        <p:grpSpPr>
          <a:xfrm>
            <a:off x="1558767" y="3554194"/>
            <a:ext cx="10685272" cy="3036177"/>
            <a:chOff x="6280190" y="4034790"/>
            <a:chExt cx="7556421" cy="2410897"/>
          </a:xfrm>
        </p:grpSpPr>
        <p:sp>
          <p:nvSpPr>
            <p:cNvPr id="7" name="Shape 3"/>
            <p:cNvSpPr/>
            <p:nvPr/>
          </p:nvSpPr>
          <p:spPr>
            <a:xfrm>
              <a:off x="6280190" y="4034790"/>
              <a:ext cx="3664744" cy="2410897"/>
            </a:xfrm>
            <a:prstGeom prst="roundRect">
              <a:avLst>
                <a:gd name="adj" fmla="val 8468"/>
              </a:avLst>
            </a:prstGeom>
            <a:solidFill>
              <a:srgbClr val="FFFFFF"/>
            </a:solidFill>
            <a:ln w="7620">
              <a:solidFill>
                <a:srgbClr val="FF7047"/>
              </a:solidFill>
              <a:prstDash val="solid"/>
            </a:ln>
          </p:spPr>
        </p:sp>
        <p:sp>
          <p:nvSpPr>
            <p:cNvPr id="8" name="Text 4"/>
            <p:cNvSpPr/>
            <p:nvPr/>
          </p:nvSpPr>
          <p:spPr>
            <a:xfrm>
              <a:off x="6514624" y="4269224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5575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Key Causes</a:t>
              </a:r>
              <a:endParaRPr lang="en-US" sz="22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6514624" y="4759643"/>
              <a:ext cx="3195876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5575A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Human activities, industrial waste, agricultural chemicals, and improper disposal of garbage.</a:t>
              </a:r>
              <a:endParaRPr lang="en-US" sz="1750" dirty="0"/>
            </a:p>
          </p:txBody>
        </p:sp>
        <p:sp>
          <p:nvSpPr>
            <p:cNvPr id="10" name="Shape 6"/>
            <p:cNvSpPr/>
            <p:nvPr/>
          </p:nvSpPr>
          <p:spPr>
            <a:xfrm>
              <a:off x="10171748" y="4034790"/>
              <a:ext cx="3664863" cy="2410897"/>
            </a:xfrm>
            <a:prstGeom prst="roundRect">
              <a:avLst>
                <a:gd name="adj" fmla="val 8468"/>
              </a:avLst>
            </a:prstGeom>
            <a:solidFill>
              <a:srgbClr val="FFFFFF"/>
            </a:solidFill>
            <a:ln w="7620">
              <a:solidFill>
                <a:srgbClr val="FF7047"/>
              </a:solidFill>
              <a:prstDash val="solid"/>
            </a:ln>
          </p:spPr>
        </p:sp>
        <p:sp>
          <p:nvSpPr>
            <p:cNvPr id="11" name="Text 7"/>
            <p:cNvSpPr/>
            <p:nvPr/>
          </p:nvSpPr>
          <p:spPr>
            <a:xfrm>
              <a:off x="10406182" y="4269224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5575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Why It Matters</a:t>
              </a:r>
              <a:endParaRPr lang="en-US" sz="22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10406182" y="4759643"/>
              <a:ext cx="3195995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5575A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Soil supports food production, stores carbon, filters water, and hosts biodiversity.</a:t>
              </a:r>
              <a:endParaRPr lang="en-US" sz="1750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E127D08-8296-73DF-74B2-008ED18FB3EC}"/>
              </a:ext>
            </a:extLst>
          </p:cNvPr>
          <p:cNvSpPr/>
          <p:nvPr/>
        </p:nvSpPr>
        <p:spPr>
          <a:xfrm>
            <a:off x="12723541" y="7571678"/>
            <a:ext cx="1906859" cy="657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1197" y="1446966"/>
            <a:ext cx="655153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Sources of Soil Pollution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1961197" y="2751058"/>
            <a:ext cx="18805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Agriculture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961196" y="3241477"/>
            <a:ext cx="246583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Overuse of fertilizers and pesticides adds toxic chemicals and salts to soil.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292685" y="2751058"/>
            <a:ext cx="233474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 Waste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92685" y="3289577"/>
            <a:ext cx="246583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Chemical spills, heavy metals, and improper disposal contaminate large areas.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8624292" y="2751058"/>
            <a:ext cx="233474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Waste Dumping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624292" y="3241477"/>
            <a:ext cx="2627288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Domestic, hospital, and commercial waste introduce plastics, pathogens, and hazardous compounds.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1955899" y="2751058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Mining &amp; Development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955899" y="3595807"/>
            <a:ext cx="209463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Mine dust and construction spoil bury healthy topsoil and spread pollutants.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8D90B8-E242-30F7-FDB1-677E0F957521}"/>
              </a:ext>
            </a:extLst>
          </p:cNvPr>
          <p:cNvSpPr/>
          <p:nvPr/>
        </p:nvSpPr>
        <p:spPr>
          <a:xfrm>
            <a:off x="12723541" y="7571678"/>
            <a:ext cx="1906859" cy="657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5" name="Text 1"/>
          <p:cNvSpPr/>
          <p:nvPr/>
        </p:nvSpPr>
        <p:spPr>
          <a:xfrm>
            <a:off x="6280190" y="2398633"/>
            <a:ext cx="622363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Effects on Soil Health</a:t>
            </a:r>
            <a:endParaRPr lang="en-US" sz="3550" dirty="0"/>
          </a:p>
        </p:txBody>
      </p:sp>
      <p:sp>
        <p:nvSpPr>
          <p:cNvPr id="6" name="Text 2"/>
          <p:cNvSpPr/>
          <p:nvPr/>
        </p:nvSpPr>
        <p:spPr>
          <a:xfrm>
            <a:off x="6280190" y="3305770"/>
            <a:ext cx="75564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Kills beneficial organisms like earthworms and microbes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Reduces soil fertility and nutrient availability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Lowers soil’s self-regeneration and structure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Pesticides and toxins make soil unsafe for plants and humans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6280190" y="5250418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biological and chemical changes make it harder to grow healthy crops and sustain ecosystems.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BFEEAA-CA68-F66B-9076-2ED651CFF78D}"/>
              </a:ext>
            </a:extLst>
          </p:cNvPr>
          <p:cNvSpPr/>
          <p:nvPr/>
        </p:nvSpPr>
        <p:spPr>
          <a:xfrm>
            <a:off x="12723541" y="7571678"/>
            <a:ext cx="1906859" cy="657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9640"/>
            <a:ext cx="84964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Effects on Environment &amp; Water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060144"/>
            <a:ext cx="4205168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Biomagnification: toxins move up the food chain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Eutrophication: nutrient runoff causes algal blooms in water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Salinization and waterlogging weaken crop growth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Desertification: fertile land turns to arid land</a:t>
            </a:r>
            <a:endParaRPr lang="en-US" sz="175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8000425" y="3041928"/>
            <a:ext cx="3403240" cy="22682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59981" y="5565338"/>
            <a:ext cx="828413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Polluted soil often contaminates groundwater and rivers, harming aquatic life and reducing clean water availability for communities.</a:t>
            </a:r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9729E8-36AF-D68A-8515-3090F60E42C3}"/>
              </a:ext>
            </a:extLst>
          </p:cNvPr>
          <p:cNvSpPr/>
          <p:nvPr/>
        </p:nvSpPr>
        <p:spPr>
          <a:xfrm>
            <a:off x="12723541" y="7571678"/>
            <a:ext cx="1906859" cy="657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08189" y="1544775"/>
            <a:ext cx="10346279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Measures — Waste &amp; Land Management</a:t>
            </a:r>
            <a:endParaRPr lang="en-US" sz="355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E249BB-6235-E1A0-2BB6-44C526FDC300}"/>
              </a:ext>
            </a:extLst>
          </p:cNvPr>
          <p:cNvGrpSpPr/>
          <p:nvPr/>
        </p:nvGrpSpPr>
        <p:grpSpPr>
          <a:xfrm>
            <a:off x="1708309" y="2960817"/>
            <a:ext cx="11149047" cy="3536752"/>
            <a:chOff x="6280190" y="3083481"/>
            <a:chExt cx="7556301" cy="3536752"/>
          </a:xfrm>
        </p:grpSpPr>
        <p:sp>
          <p:nvSpPr>
            <p:cNvPr id="6" name="Shape 2"/>
            <p:cNvSpPr/>
            <p:nvPr/>
          </p:nvSpPr>
          <p:spPr>
            <a:xfrm>
              <a:off x="6280190" y="3083481"/>
              <a:ext cx="2367558" cy="3536752"/>
            </a:xfrm>
            <a:prstGeom prst="roundRect">
              <a:avLst>
                <a:gd name="adj" fmla="val 8623"/>
              </a:avLst>
            </a:prstGeom>
            <a:solidFill>
              <a:srgbClr val="FFFFFF"/>
            </a:solidFill>
            <a:ln w="30480">
              <a:solidFill>
                <a:srgbClr val="FF7047"/>
              </a:solidFill>
              <a:prstDash val="solid"/>
            </a:ln>
          </p:spPr>
        </p:sp>
        <p:sp>
          <p:nvSpPr>
            <p:cNvPr id="7" name="Text 3"/>
            <p:cNvSpPr/>
            <p:nvPr/>
          </p:nvSpPr>
          <p:spPr>
            <a:xfrm>
              <a:off x="6537484" y="3340775"/>
              <a:ext cx="1852970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5575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Reduce &amp; Reuse</a:t>
              </a:r>
              <a:endParaRPr lang="en-US" sz="22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6537484" y="4185523"/>
              <a:ext cx="1852970" cy="21774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5575A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Adopt the 3Rs: Reduce consumption, Reuse materials, Recycle where possible.</a:t>
              </a:r>
              <a:endParaRPr lang="en-US" sz="1750" dirty="0"/>
            </a:p>
          </p:txBody>
        </p:sp>
        <p:sp>
          <p:nvSpPr>
            <p:cNvPr id="9" name="Shape 5"/>
            <p:cNvSpPr/>
            <p:nvPr/>
          </p:nvSpPr>
          <p:spPr>
            <a:xfrm>
              <a:off x="8874562" y="3083481"/>
              <a:ext cx="2367558" cy="3536752"/>
            </a:xfrm>
            <a:prstGeom prst="roundRect">
              <a:avLst>
                <a:gd name="adj" fmla="val 8623"/>
              </a:avLst>
            </a:prstGeom>
            <a:solidFill>
              <a:srgbClr val="FFFFFF"/>
            </a:solidFill>
            <a:ln w="30480">
              <a:solidFill>
                <a:srgbClr val="FF7047"/>
              </a:solidFill>
              <a:prstDash val="solid"/>
            </a:ln>
          </p:spPr>
        </p:sp>
        <p:sp>
          <p:nvSpPr>
            <p:cNvPr id="10" name="Text 6"/>
            <p:cNvSpPr/>
            <p:nvPr/>
          </p:nvSpPr>
          <p:spPr>
            <a:xfrm>
              <a:off x="9131856" y="3340775"/>
              <a:ext cx="1852970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5575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Proper Disposal</a:t>
              </a:r>
              <a:endParaRPr lang="en-US" sz="220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9131856" y="4185523"/>
              <a:ext cx="1852970" cy="21774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5575A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Use controlled landfills, incineration (when safe), and pyrolysis to limit leaks to soil.</a:t>
              </a:r>
              <a:endParaRPr lang="en-US" sz="1750" dirty="0"/>
            </a:p>
          </p:txBody>
        </p:sp>
        <p:sp>
          <p:nvSpPr>
            <p:cNvPr id="12" name="Shape 8"/>
            <p:cNvSpPr/>
            <p:nvPr/>
          </p:nvSpPr>
          <p:spPr>
            <a:xfrm>
              <a:off x="11468933" y="3083481"/>
              <a:ext cx="2367558" cy="3536752"/>
            </a:xfrm>
            <a:prstGeom prst="roundRect">
              <a:avLst>
                <a:gd name="adj" fmla="val 8623"/>
              </a:avLst>
            </a:prstGeom>
            <a:solidFill>
              <a:srgbClr val="FFFFFF"/>
            </a:solidFill>
            <a:ln w="30480">
              <a:solidFill>
                <a:srgbClr val="FF7047"/>
              </a:solidFill>
              <a:prstDash val="solid"/>
            </a:ln>
          </p:spPr>
        </p:sp>
        <p:sp>
          <p:nvSpPr>
            <p:cNvPr id="13" name="Text 9"/>
            <p:cNvSpPr/>
            <p:nvPr/>
          </p:nvSpPr>
          <p:spPr>
            <a:xfrm>
              <a:off x="11726227" y="3340775"/>
              <a:ext cx="1852970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5575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Afforestation</a:t>
              </a:r>
              <a:endParaRPr lang="en-US" sz="220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11726227" y="3831193"/>
              <a:ext cx="1852970" cy="18145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5575A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Planting trees stabilizes soil, reduces erosion, and improves water retention.</a:t>
              </a:r>
              <a:endParaRPr lang="en-US" sz="1750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A9F8F03-30A9-8998-82F1-8C6BE9F97227}"/>
              </a:ext>
            </a:extLst>
          </p:cNvPr>
          <p:cNvSpPr/>
          <p:nvPr/>
        </p:nvSpPr>
        <p:spPr>
          <a:xfrm>
            <a:off x="12723541" y="7571678"/>
            <a:ext cx="1906859" cy="657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3077" y="1846897"/>
            <a:ext cx="855380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Measures — Farming &amp; Industry</a:t>
            </a:r>
            <a:endParaRPr lang="en-US" sz="355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1283077" y="2871350"/>
            <a:ext cx="4433886" cy="29443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82621" y="2706338"/>
            <a:ext cx="6819701" cy="3676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Switch to organic farming, crop rotation, and mixed cropping to restore soil fertility.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Convert animal waste to biogas and use agricultural residues for paper and bricks.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Adopt modern mining methods and use fly ash responsibly in industries.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Replace single-use plastics with biodegradable alternatives to cut long-term contamination.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16F9BA-0167-7D13-F858-C960F2625D05}"/>
              </a:ext>
            </a:extLst>
          </p:cNvPr>
          <p:cNvSpPr/>
          <p:nvPr/>
        </p:nvSpPr>
        <p:spPr>
          <a:xfrm>
            <a:off x="12723541" y="7571678"/>
            <a:ext cx="1906859" cy="657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4" name="Image 1"/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/>
        </p:blipFill>
        <p:spPr>
          <a:xfrm>
            <a:off x="0" y="1271645"/>
            <a:ext cx="5486400" cy="56863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95430" y="1559004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— Why Soil Protection Matters</a:t>
            </a:r>
            <a:endParaRPr lang="en-US" sz="3550" dirty="0"/>
          </a:p>
        </p:txBody>
      </p:sp>
      <p:sp>
        <p:nvSpPr>
          <p:cNvPr id="6" name="Text 2"/>
          <p:cNvSpPr/>
          <p:nvPr/>
        </p:nvSpPr>
        <p:spPr>
          <a:xfrm>
            <a:off x="6280190" y="2955058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Soil is a vital, nonrenewable resource. Preventing soil pollution protects food security, water quality, and ecosystems. Simple actions—better waste handling, sustainable farming, and community planting—make a big difference.</a:t>
            </a:r>
            <a:endParaRPr lang="en-US" sz="1750" dirty="0"/>
          </a:p>
        </p:txBody>
      </p:sp>
      <p:sp>
        <p:nvSpPr>
          <p:cNvPr id="8" name="Text 3"/>
          <p:cNvSpPr/>
          <p:nvPr/>
        </p:nvSpPr>
        <p:spPr>
          <a:xfrm>
            <a:off x="6620351" y="5029521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“Save Soil, Save Future.” — Small steps today keep our soil healthy for tomorrow.</a:t>
            </a:r>
            <a:endParaRPr lang="en-US" sz="1750" dirty="0"/>
          </a:p>
        </p:txBody>
      </p:sp>
      <p:sp>
        <p:nvSpPr>
          <p:cNvPr id="9" name="Shape 4"/>
          <p:cNvSpPr/>
          <p:nvPr/>
        </p:nvSpPr>
        <p:spPr>
          <a:xfrm>
            <a:off x="6295430" y="4943836"/>
            <a:ext cx="30480" cy="1236107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12B8B7-939E-D027-6A73-2FD724AC8F24}"/>
              </a:ext>
            </a:extLst>
          </p:cNvPr>
          <p:cNvSpPr/>
          <p:nvPr/>
        </p:nvSpPr>
        <p:spPr>
          <a:xfrm>
            <a:off x="12723541" y="7571678"/>
            <a:ext cx="1906859" cy="657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480</Words>
  <Application>Microsoft Office PowerPoint</Application>
  <PresentationFormat>Custom</PresentationFormat>
  <Paragraphs>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Manrope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jasvir singh</cp:lastModifiedBy>
  <cp:revision>2</cp:revision>
  <dcterms:created xsi:type="dcterms:W3CDTF">2026-02-23T14:22:27Z</dcterms:created>
  <dcterms:modified xsi:type="dcterms:W3CDTF">2026-02-23T14:46:38Z</dcterms:modified>
</cp:coreProperties>
</file>